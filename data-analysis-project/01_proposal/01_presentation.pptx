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7e199089b9428c" /><Relationship Type="http://schemas.openxmlformats.org/officeDocument/2006/relationships/extended-properties" Target="/docProps/app.xml" Id="R1b124287b2fe4edb" /><Relationship Type="http://schemas.openxmlformats.org/officeDocument/2006/relationships/officeDocument" Target="/ppt/presentation.xml" Id="R7236115d5301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00d7591d04a2f"/>
  </p:sldMasterIdLst>
  <p:notesMasterIdLst>
    <p:notesMasterId xmlns:r="http://schemas.openxmlformats.org/officeDocument/2006/relationships" r:id="Rd1077d442061444f"/>
  </p:notesMasterIdLst>
  <p:sldIdLst>
    <p:sldId xmlns:r="http://schemas.openxmlformats.org/officeDocument/2006/relationships" id="256" r:id="R83a46b02cf8c4ada"/>
    <p:sldId xmlns:r="http://schemas.openxmlformats.org/officeDocument/2006/relationships" id="257" r:id="R899e844e61934db8"/>
    <p:sldId xmlns:r="http://schemas.openxmlformats.org/officeDocument/2006/relationships" id="258" r:id="Rd0a51fced5594ed6"/>
    <p:sldId xmlns:r="http://schemas.openxmlformats.org/officeDocument/2006/relationships" id="259" r:id="Rb8f5e3968311447e"/>
    <p:sldId xmlns:r="http://schemas.openxmlformats.org/officeDocument/2006/relationships" id="260" r:id="Ra3799e9eab5a4cb7"/>
    <p:sldId xmlns:r="http://schemas.openxmlformats.org/officeDocument/2006/relationships" id="261" r:id="R38084d6dc22848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d161cd41c432f" /><Relationship Type="http://schemas.openxmlformats.org/officeDocument/2006/relationships/slideMaster" Target="/ppt/slideMasters/slideMaster1.xml" Id="R47500d7591d04a2f" /><Relationship Type="http://schemas.openxmlformats.org/officeDocument/2006/relationships/notesMaster" Target="/ppt/notesMasters/notesMaster1.xml" Id="Rd1077d442061444f" /><Relationship Type="http://schemas.openxmlformats.org/officeDocument/2006/relationships/presProps" Target="/ppt/presProps.xml" Id="R8af92235373447c9" /><Relationship Type="http://schemas.openxmlformats.org/officeDocument/2006/relationships/tableStyles" Target="/ppt/tableStyles.xml" Id="R61366e98bc48473c" /><Relationship Type="http://schemas.openxmlformats.org/officeDocument/2006/relationships/slide" Target="/ppt/slides/slide1.xml" Id="R83a46b02cf8c4ada" /><Relationship Type="http://schemas.openxmlformats.org/officeDocument/2006/relationships/slide" Target="/ppt/slides/slide2.xml" Id="R899e844e61934db8" /><Relationship Type="http://schemas.openxmlformats.org/officeDocument/2006/relationships/slide" Target="/ppt/slides/slide3.xml" Id="Rd0a51fced5594ed6" /><Relationship Type="http://schemas.openxmlformats.org/officeDocument/2006/relationships/slide" Target="/ppt/slides/slide4.xml" Id="Rb8f5e3968311447e" /><Relationship Type="http://schemas.openxmlformats.org/officeDocument/2006/relationships/slide" Target="/ppt/slides/slide5.xml" Id="Ra3799e9eab5a4cb7" /><Relationship Type="http://schemas.openxmlformats.org/officeDocument/2006/relationships/slide" Target="/ppt/slides/slide6.xml" Id="R38084d6dc22848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3127bb25e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5852669d3489a" /><Relationship Type="http://schemas.openxmlformats.org/officeDocument/2006/relationships/notesMaster" Target="/ppt/notesMasters/notesMaster1.xml" Id="R397ef962da62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1060cccfc45fd" /><Relationship Type="http://schemas.openxmlformats.org/officeDocument/2006/relationships/notesMaster" Target="/ppt/notesMasters/notesMaster1.xml" Id="Rc62dd49e8146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68be704d34d5e" /><Relationship Type="http://schemas.openxmlformats.org/officeDocument/2006/relationships/notesMaster" Target="/ppt/notesMasters/notesMaster1.xml" Id="Re9a2dff1e02a41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03a6975a54c12" /><Relationship Type="http://schemas.openxmlformats.org/officeDocument/2006/relationships/notesMaster" Target="/ppt/notesMasters/notesMaster1.xml" Id="Rebdfe22e563747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7b92af013d4379" /><Relationship Type="http://schemas.openxmlformats.org/officeDocument/2006/relationships/notesMaster" Target="/ppt/notesMasters/notesMaster1.xml" Id="R42198e97eda64c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328997cecc408b" /><Relationship Type="http://schemas.openxmlformats.org/officeDocument/2006/relationships/notesMaster" Target="/ppt/notesMasters/notesMaster1.xml" Id="Reac6d929abaa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생명보험 계약 해지·실효 방지 업무와 논문 주제를 연결하고자 합니다. 회사 자료는 없으므로 공개 보험 자료로 방법을 검증합니다. 이번 자료는 스페인 비생명 건강보험이며 국내 생명보험을 직접 분석한 결과가 아닙니다. 약 40초.</a:t>
            </a:r>
          </a:p>
          <a:p xmlns:a="http://schemas.openxmlformats.org/drawingml/2006/main">
            <a:r>
              <a:t>Source: Lledó, J.; Espinosa Adamez, P.; Perez Gimenez, V. (2025). Dataset of health insurance portfolio, Mendeley Data, V4. DOI:10.17632/386vmj2tbk.4. CC BY 4.0. https://data.mendeley.com/datasets/386vmj2tbk/4</a:t>
            </a:r>
          </a:p>
          <a:p xmlns:a="http://schemas.openxmlformats.org/drawingml/2006/main">
            <a:r>
              <a:t>Related paper: https://doi.org/10.1038/s41597-025-06372-z</a:t>
            </a:r>
          </a:p>
          <a:p xmlns:a="http://schemas.openxmlformats.org/drawingml/2006/main">
            <a:r>
              <a:t>Counts independently checked on downloaded files on 2026-10-04. See docs/check_source_data.py and docs/data_feasibility.json.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대상은 기준연도 말 유지 중인 피보험 관계입니다. 다음 해 신규 가입자는 본 예측에서 제외합니다. 상위20%의 실제 이탈 포착 성능을 비교하며 10%,30%를 보조 확인합니다. 이탈 위험이 높다는 사실만으로 상담 반응이 높다고 해석하지 않습니다. 약45초.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파일과 변수 설명서를 확보했습니다. ID 고유값100,453개, 계약ID45,162개로 행 수와 고유 계약 수는 다릅니다. ID_insured는 계약 내 순번이어서 단독연결하면 안됩니다. 다음해 연결건수는 확보가능성 점검 결과입니다. 아직 모델 성능은 없습니다. 약55초.</a:t>
            </a:r>
          </a:p>
          <a:p xmlns:a="http://schemas.openxmlformats.org/drawingml/2006/main">
            <a:r>
              <a:t>Source: Lledó, J.; Espinosa Adamez, P.; Perez Gimenez, V. (2025). Dataset of health insurance portfolio, Mendeley Data, V4. DOI:10.17632/386vmj2tbk.4. CC BY 4.0. https://data.mendeley.com/datasets/386vmj2tbk/4</a:t>
            </a:r>
          </a:p>
          <a:p xmlns:a="http://schemas.openxmlformats.org/drawingml/2006/main">
            <a:r>
              <a:t>Related paper: https://doi.org/10.1038/s41597-025-06372-z</a:t>
            </a:r>
          </a:p>
          <a:p xmlns:a="http://schemas.openxmlformats.org/drawingml/2006/main">
            <a:r>
              <a:t>Counts independently checked on downloaded files on 2026-10-04. See docs/check_source_data.py and docs/data_feasibility.json.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변수 설명서의 lapse정의로 후보 타깃을 정했습니다. 날짜와 상태 전수일치 검증은2차에서 합니다. 이전연도행에도 미래종료일이 기입될 수 있으므로 과거행이라는 이유만으로 모든값을 쓰지않습니다. 최종2019결과로 튜닝하지않습니다. 계약내 여러피보험자가 있어 계약ID단위로 개발분할합니다. 약65초.</a:t>
            </a:r>
          </a:p>
          <a:p xmlns:a="http://schemas.openxmlformats.org/drawingml/2006/main">
            <a:r>
              <a:t>Source: Lledó, J.; Espinosa Adamez, P.; Perez Gimenez, V. (2025). Dataset of health insurance portfolio, Mendeley Data, V4. DOI:10.17632/386vmj2tbk.4. CC BY 4.0. https://data.mendeley.com/datasets/386vmj2tbk/4</a:t>
            </a:r>
          </a:p>
          <a:p xmlns:a="http://schemas.openxmlformats.org/drawingml/2006/main">
            <a:r>
              <a:t>Related paper: https://doi.org/10.1038/s41597-025-06372-z</a:t>
            </a:r>
          </a:p>
          <a:p xmlns:a="http://schemas.openxmlformats.org/drawingml/2006/main">
            <a:r>
              <a:t>Counts independently checked on downloaded files on 2026-10-04. See docs/check_source_data.py and docs/data_feasibility.json.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복잡한 모델보다 질문에맞는 검증을 우선합니다. 실제이탈대상중 상위20%에 들어온비율과 전체대비이탈비율을 비교합니다. 무작위선정효과는반복집계하고, 계약단위재표집으로불확실성을봅니다. 공개데이터에는처치반응이없으므로 업리프트나방어효과를주장하지않습니다. 약60초.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현재는기획과확보확인단계입니다. AI가작성한코드의실행결과와해석을구분해기록하겠습니다. 10월10일공지시간은15~18시이고 개인시간은아직모릅니다. 여력되면 집계대시보드를Streamlit로만들되 평가의중심은분석과검증입니다. 약35초. 일정출처: 사용자가 제공한 수업 프로젝트 공지.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8b9018c29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9388aefc84309" /><Relationship Type="http://schemas.openxmlformats.org/officeDocument/2006/relationships/slideLayout" Target="/ppt/slideLayouts/slideLayout1.xml" Id="Rf06d88bac9914b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d88bac9914b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20e7d083e473e" /><Relationship Type="http://schemas.openxmlformats.org/officeDocument/2006/relationships/notesSlide" Target="/ppt/notesSlides/notesSlide1.xml" Id="Rc6c072f40c70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e7c8c1b048b5" /><Relationship Type="http://schemas.openxmlformats.org/officeDocument/2006/relationships/notesSlide" Target="/ppt/notesSlides/notesSlide2.xml" Id="Rdc45ba79ca31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45411b2b049a1" /><Relationship Type="http://schemas.openxmlformats.org/officeDocument/2006/relationships/notesSlide" Target="/ppt/notesSlides/notesSlide3.xml" Id="Rbded87cc37f0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9e038e3a9400f" /><Relationship Type="http://schemas.openxmlformats.org/officeDocument/2006/relationships/notesSlide" Target="/ppt/notesSlides/notesSlide4.xml" Id="R223ce9738e8140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fe47aba6412b" /><Relationship Type="http://schemas.openxmlformats.org/officeDocument/2006/relationships/notesSlide" Target="/ppt/notesSlides/notesSlide5.xml" Id="R428e79a8a267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40f302bf0463b" /><Relationship Type="http://schemas.openxmlformats.org/officeDocument/2006/relationships/notesSlide" Target="/ppt/notesSlides/notesSlide6.xml" Id="R05284f6d2abd48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E401B-4463-481A-9DDE-8D81A0D4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보험계약 이탈 위험 분석과</a:t>
            </a:r>
          </a:p>
          <a:p xmlns:a="http://schemas.openxmlformats.org/drawingml/2006/main">
            <a:pPr>
              <a:defRPr sz="435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유지관리 우선순위 탐색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4B7AC-FB7C-48A8-BD92-CAADAAF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공개 건강보험 데이터를 활용한</a:t>
            </a:r>
          </a:p>
          <a:p xmlns:a="http://schemas.openxmlformats.org/drawingml/2006/main">
            <a:pPr>
              <a:defRPr sz="232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생명보험 해지·실효 방지 연구의 예비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2CBC1-166A-4C9D-B50B-B91D344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1차 프로젝트 기획  /  2026년 10월</a:t>
            </a:r>
          </a:p>
        </p:txBody>
      </p:sp>
    </p:spTree>
    <p:extLst>
      <p:ext uri="{BB962C8B-B14F-4D97-AF65-F5344CB8AC3E}">
        <p14:creationId xmlns:p14="http://schemas.microsoft.com/office/powerpoint/2010/main" val="803247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72E79-98CD-440F-AB9A-E0AB637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세 가지 질문으로 분석 범위를 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5C521-84B6-4A29-97D8-6428EF3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1   특성에 따라 이탈 비율이 다른가?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C04D5-B68A-47CA-9CEA-AC1AD9F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가입 기간, 보험료, 상품 유형, 판매 채널별 다음 해 이탈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A8A0F-5F3B-479A-B8AB-C474C96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2   다음 해 이탈을 미리 구분할 수 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33586-E64E-40B9-A5AC-3F11418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기준연도까지 확인 가능한 계약 정보로 예측하고 이후 연도로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C4996-6035-45B9-87B4-31E9E70D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3   상위 20%에 이탈 대상이 더 많이 포함되는가?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42C6-FEE7-48F2-9A21-225B302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무작위·단순 규칙과 비교  /  20%는 업무량이 아닌 분석상 가정</a:t>
            </a:r>
          </a:p>
        </p:txBody>
      </p:sp>
    </p:spTree>
    <p:extLst>
      <p:ext uri="{BB962C8B-B14F-4D97-AF65-F5344CB8AC3E}">
        <p14:creationId xmlns:p14="http://schemas.microsoft.com/office/powerpoint/2010/main" val="1006666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3BAAF-6A87-4FD3-BD53-E973DD5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공개 원자료를 실제로 확보했다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C8024-920D-409A-A00C-F5723DE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228,711행 · 42개 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280C-3218-4234-BB6A-1F26DE4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스페인 건강보험 2017~2019년  /  한 행은 피보험 관계의 연도별 기록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3162300"/>
          <a:ext xmlns:a="http://schemas.openxmlformats.org/drawingml/2006/main" cx="108204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524125"/>
                <a:gridCol w="2952750"/>
                <a:gridCol w="239077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연도 연결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기준연도 유지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다음 해 상태 확인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 미확인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2017년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63,487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63,486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2018년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59,833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59,831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9E6E-BFC9-49EC-9B07-AE30AEE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ID와 연도 조합 중복 0건. 결과 미확인 3건은 이탈로 간주하지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DB477-1CCA-455D-BA71-8DBE95D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Mendeley Data V4, CC BY 4.0  /  다운로드·체크섬·파일 로딩 확인</a:t>
            </a:r>
          </a:p>
        </p:txBody>
      </p:sp>
    </p:spTree>
    <p:extLst>
      <p:ext uri="{BB962C8B-B14F-4D97-AF65-F5344CB8AC3E}">
        <p14:creationId xmlns:p14="http://schemas.microsoft.com/office/powerpoint/2010/main" val="324423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FBEF3-D13E-4578-B49F-A61103A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예측 시점 이후의 정보는 제외한다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7FE56-FA03-4FE1-85B5-C538D72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이탈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A0A0F-40C6-41A9-83D3-0D117B5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다음 해 lapse 1 또는 3: 연중·연말 종료</a:t>
            </a:r>
          </a:p>
          <a:p xmlns:a="http://schemas.openxmlformats.org/drawingml/2006/main">
            <a:pPr>
              <a:def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lapse 2: 유지. 해지·미납 실효 구분은 불가능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6377-BE05-460D-8B44-6737C9C3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개발과 최종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7EB02-9D36-43F5-8332-6E648304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개발: 2017년 정보로 2018년 결과 확인</a:t>
            </a:r>
          </a:p>
          <a:p xmlns:a="http://schemas.openxmlformats.org/drawingml/2006/main">
            <a:pPr>
              <a:def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최종 평가: 2018년 정보로 2019년 결과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51570-B7E4-4B8A-975B-6626BEDB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미래 종료일·종료연도·다음 해 보험료를 예측 변수에서 제외한다.</a:t>
            </a:r>
          </a:p>
          <a:p xmlns:a="http://schemas.openxmlformats.org/drawingml/2006/main">
            <a:pPr>
              <a:defRPr sz="187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개발 단계는 계약 단위로 분할하고, 상태·날짜의 일치를 점검한다.</a:t>
            </a:r>
          </a:p>
        </p:txBody>
      </p:sp>
    </p:spTree>
    <p:extLst>
      <p:ext uri="{BB962C8B-B14F-4D97-AF65-F5344CB8AC3E}">
        <p14:creationId xmlns:p14="http://schemas.microsoft.com/office/powerpoint/2010/main" val="1934728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01ED-6AC2-48FE-862D-FFE2580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이탈 포착 성능과 상담 효과를 구분한다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5BB04-79E1-4E3B-A7F8-BC6FC078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비교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F210-544C-4ED3-94AC-AA87AD8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714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무작위·단순 규칙</a:t>
            </a:r>
          </a:p>
          <a:p xmlns:a="http://schemas.openxmlformats.org/drawingml/2006/main">
            <a:pPr>
              <a:def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로지스틱 회귀</a:t>
            </a:r>
          </a:p>
          <a:p xmlns:a="http://schemas.openxmlformats.org/drawingml/2006/main">
            <a:pPr>
              <a:def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랜덤 포레스트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232BC-497B-4952-B36C-97B4B785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47825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평가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306BD-5E72-435D-BA9D-52AC5031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76475"/>
            <a:ext cx="5000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Average Precision</a:t>
            </a:r>
          </a:p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Recall@20%: 이탈 대상 포착 비율</a:t>
            </a:r>
          </a:p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Lift@20%: 전체 대비 이탈 비율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AE3CA-7295-43D3-9F9B-B2F41798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상담 효과나 해지 감소율은 이번 자료로 추정할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2EA2D-E5FE-48E1-8C44-0C33573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생명보험 적용에는 해지·실효 구분, 납입·연체·상담 이력이 필요하다.</a:t>
            </a:r>
          </a:p>
          <a:p xmlns:a="http://schemas.openxmlformats.org/drawingml/2006/main">
            <a:pPr>
              <a:def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건강보험과 생명보험의 계약 구조 차이도 별도로 검증해야 한다.</a:t>
            </a:r>
          </a:p>
        </p:txBody>
      </p:sp>
    </p:spTree>
    <p:extLst>
      <p:ext uri="{BB962C8B-B14F-4D97-AF65-F5344CB8AC3E}">
        <p14:creationId xmlns:p14="http://schemas.microsoft.com/office/powerpoint/2010/main" val="686272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5AA26-E79D-403F-8078-922E9F3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2B3B"/>
                </a:solidFill>
                <a:latin typeface="Apple SD Gothic Neo"/>
                <a:ea typeface="Apple SD Gothic Neo"/>
                <a:cs typeface="Apple SD Gothic Neo"/>
              </a:rPr>
              <a:t>학기 안에 검증 가능한 결과로 마무리한다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43425"/>
                <a:gridCol w="627697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산출물</a:t>
                      </a:r>
                    </a:p>
                  </a:txBody>
                  <a:tcPr marL="91440" marR="91440" marT="45720" marB="45720">
                    <a:solidFill>
                      <a:srgbClr val="176B6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10월 5일 제출 · 10월 10일 발표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기획서와 데이터 확보 근거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10월 말 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전처리 기준, EDA, 피드백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11월 말 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비교, 시점 분리 검증, 오류 사례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12월 말 예정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3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보고서와 재현 코드, 선택적 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EECDB-3CEF-4516-AE95-60AD803D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65"/>
                </a:solidFill>
                <a:latin typeface="Apple SD Gothic Neo"/>
                <a:ea typeface="Apple SD Gothic Neo"/>
                <a:cs typeface="Apple SD Gothic Neo"/>
              </a:rPr>
              <a:t>현재: 데이터 확보와 기초 구조 확인 완료. 모델 학습 전 단계.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51528-378F-4961-BFBB-B6B9F59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Codex로 코드·문서 초안을 작성하고, 원자료 정의와 실행 결과로 검증한다.</a:t>
            </a:r>
          </a:p>
          <a:p xmlns:a="http://schemas.openxmlformats.org/drawingml/2006/main">
            <a:pPr>
              <a:defRPr sz="180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271"/>
                </a:solidFill>
                <a:latin typeface="Apple SD Gothic Neo"/>
                <a:ea typeface="Apple SD Gothic Neo"/>
                <a:cs typeface="Apple SD Gothic Neo"/>
              </a:rPr>
              <a:t>개인 발표 시간·순서는 별도 확인. 2~4차 일정은 추후 공지에 따른다.</a:t>
            </a:r>
          </a:p>
        </p:txBody>
      </p:sp>
    </p:spTree>
    <p:extLst>
      <p:ext uri="{BB962C8B-B14F-4D97-AF65-F5344CB8AC3E}">
        <p14:creationId xmlns:p14="http://schemas.microsoft.com/office/powerpoint/2010/main" val="2130836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2026-10-04T05:23:34.5040000Z</dcterms:created>
  <dcterms:modified xsi:type="dcterms:W3CDTF">2026-10-04T05:23:34.5040000Z</dcterms:modified>
</coreProperties>
</file>